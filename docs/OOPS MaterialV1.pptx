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96" r:id="rId5"/>
    <p:sldId id="259" r:id="rId6"/>
    <p:sldId id="306" r:id="rId7"/>
    <p:sldId id="297" r:id="rId8"/>
    <p:sldId id="299" r:id="rId9"/>
    <p:sldId id="300" r:id="rId10"/>
    <p:sldId id="301" r:id="rId11"/>
    <p:sldId id="302" r:id="rId12"/>
    <p:sldId id="303" r:id="rId13"/>
    <p:sldId id="304" r:id="rId14"/>
    <p:sldId id="30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76"/>
    <p:restoredTop sz="92899"/>
  </p:normalViewPr>
  <p:slideViewPr>
    <p:cSldViewPr snapToGrid="0">
      <p:cViewPr varScale="1">
        <p:scale>
          <a:sx n="110" d="100"/>
          <a:sy n="110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4CAE-CAAF-AA55-18C9-8007417A0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28196-812C-CA82-2511-4987AC6E1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66DFE-E328-33D3-02DA-69CD29E0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1F7C-6F63-CF7F-EF75-206CCF0B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E925-195E-F44D-4A90-A7A82B8B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0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2CFB-60AD-E5CE-EEDA-0CF8F57A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05D16-DE32-44C2-A010-C7C1EC391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C81E0-F9A1-EBC1-0FE6-F9956671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53742-C742-AD62-E01E-6D767C80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2CA8-022E-12DE-360B-65BAA52B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C63F77-82E4-3390-82F0-24C3C49A559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60500"/>
            <a:ext cx="9144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A0442EB-2ABE-4FE1-8F2C-D5EAA059B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85312" y="247650"/>
            <a:ext cx="2190737" cy="219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E750-419B-27B2-B289-CB7A54E4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9958F-C8BD-0566-FBFC-70088644F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0BDAE-7637-0C54-AA48-C71B5F54F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13DD-9D9E-3956-06C4-A6FBF2A7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980F6-808A-55FA-D6EC-664547AA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9F90-EFF8-9B90-8886-3AE0844B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6B558-E266-7877-23BF-C88DF1021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12DDA-9640-C43F-BDDB-B272AD001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84166-B3A7-B435-3A57-1928D444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442DF-6F80-D8DE-0515-F5258E7F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971ED-2A19-934F-475B-1D6F590F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4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26EA-FE61-54E6-65DD-53FCA8CA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4085-1F6F-AD66-CCF6-3E5168D58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9E539-3C03-1D22-DD6F-299671DFF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E63D8E-960F-C17A-B2BC-E0D37B723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C3860-A78D-61B8-1C9B-3BDEDA8C1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3BBAE-AD39-7B18-AB82-C5ADE0D9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E55E8-C0FF-6868-8F7B-26F77A1F7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D2B87-08B3-37DE-778B-BE45E297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1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5858-2B4E-4F83-CDF4-B38995BA8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BF697-AB09-FD1B-D0B9-C42D6B5E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06431-DDDB-CEB9-6CCA-05351EE1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5F56B-B812-4F11-30A8-6B132644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4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C6139-39F6-1ADD-0E36-20802EA2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3471E-FDAD-C77E-CF45-23F9288D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5D966-090F-CF96-250C-5A48D4122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0610-7EFC-E224-565A-5B88D88B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94500-DB2A-863C-7E06-F7A5296E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D5FCF-E86E-F4C9-6780-5F1E4FCE9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C8784-A38C-8641-3EDD-BFD48339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5CB3-18E7-04DF-5097-93F3ED9C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69434-CB93-129C-DFCC-694FF8E9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CC41-1613-0D7B-7C6A-D2AEABF8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B8A5B-EAC4-56AF-0FE5-3E578A99A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4884E-2DF9-7C89-3B90-01998F674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FA9AC-0700-5F76-F9A0-9AD4BCD5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16751-4B8A-7035-3901-A973DFF1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6588B-F15F-2DCF-BA54-FAB3F369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7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464B-87A1-0390-9E40-21A70514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C5566-986C-A0B2-9162-AE275714C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28C36-5F3D-FC7C-9309-A2A4B336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B8279-8B4D-2624-2DB9-DA710803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0C64E-C1A0-6593-1965-13E7A91C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9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2094C-565E-02F1-4F11-2264C5057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D7AC1-13CD-560C-05B7-07B3D4E68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FDC3D-570B-4C21-96F0-1D092799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785D2-1C34-5EB6-511F-77678AAD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0912F-8DBA-DC5A-6B07-77FD0ED1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26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2816A87-D529-48EF-0594-A1990EFB3D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12455" y="1"/>
            <a:ext cx="3367089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 dirty="0"/>
              <a:t>Replace Image</a:t>
            </a:r>
          </a:p>
        </p:txBody>
      </p:sp>
    </p:spTree>
    <p:extLst>
      <p:ext uri="{BB962C8B-B14F-4D97-AF65-F5344CB8AC3E}">
        <p14:creationId xmlns:p14="http://schemas.microsoft.com/office/powerpoint/2010/main" val="840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D5C04-3678-3755-8650-863262B2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72AE2-CC2B-BCA2-BF7E-B5D3A158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4A68-94B4-051A-5306-C174E38DC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ABADF-074C-DD4B-A698-030C4D23E137}" type="datetimeFigureOut">
              <a:rPr lang="en-US" smtClean="0"/>
              <a:t>12/7/22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CD77E-AC05-2BF9-EACF-4680DC3E7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9C994-D915-3D40-7D69-5915AC05B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716BC-D9BE-CA4E-A79E-0478DF47B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DA3A-52B0-EE4C-68FA-CB6883F5D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707" y="1584828"/>
            <a:ext cx="9542585" cy="2387600"/>
          </a:xfrm>
        </p:spPr>
        <p:txBody>
          <a:bodyPr/>
          <a:lstStyle/>
          <a:p>
            <a:r>
              <a:rPr lang="en-US" dirty="0"/>
              <a:t>Object Oriented Programming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5D4A3-8565-398A-71AF-0003074D3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7242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Programming Paradigm using Python</a:t>
            </a:r>
          </a:p>
        </p:txBody>
      </p:sp>
    </p:spTree>
    <p:extLst>
      <p:ext uri="{BB962C8B-B14F-4D97-AF65-F5344CB8AC3E}">
        <p14:creationId xmlns:p14="http://schemas.microsoft.com/office/powerpoint/2010/main" val="398533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ersegi Panjang 26">
            <a:extLst>
              <a:ext uri="{FF2B5EF4-FFF2-40B4-BE49-F238E27FC236}">
                <a16:creationId xmlns:a16="http://schemas.microsoft.com/office/drawing/2014/main" id="{7B198ADF-E9EF-9D59-6CBF-9D0167026161}"/>
              </a:ext>
            </a:extLst>
          </p:cNvPr>
          <p:cNvSpPr/>
          <p:nvPr/>
        </p:nvSpPr>
        <p:spPr>
          <a:xfrm>
            <a:off x="4414831" y="0"/>
            <a:ext cx="3367089" cy="6912673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highlight>
                <a:srgbClr val="C0C0C0"/>
              </a:highlight>
            </a:endParaRP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BA8230F2-2311-FCB6-BAD8-A6AA584D6789}"/>
              </a:ext>
            </a:extLst>
          </p:cNvPr>
          <p:cNvSpPr/>
          <p:nvPr/>
        </p:nvSpPr>
        <p:spPr>
          <a:xfrm>
            <a:off x="371478" y="895170"/>
            <a:ext cx="857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600" b="1" i="0" u="none" strike="noStrike" spc="200" dirty="0">
                <a:solidFill>
                  <a:schemeClr val="tx2"/>
                </a:solidFill>
                <a:effectLst/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1</a:t>
            </a:r>
            <a:endParaRPr lang="en-US" sz="9600" spc="200" dirty="0">
              <a:solidFill>
                <a:schemeClr val="tx2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6" name="Persegi Panjang 5">
            <a:extLst>
              <a:ext uri="{FF2B5EF4-FFF2-40B4-BE49-F238E27FC236}">
                <a16:creationId xmlns:a16="http://schemas.microsoft.com/office/drawing/2014/main" id="{43B24A84-833A-BA80-4C56-5650230D4782}"/>
              </a:ext>
            </a:extLst>
          </p:cNvPr>
          <p:cNvSpPr/>
          <p:nvPr/>
        </p:nvSpPr>
        <p:spPr>
          <a:xfrm>
            <a:off x="800101" y="2625727"/>
            <a:ext cx="3152776" cy="156966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46781310-D1FA-19FE-A97A-B5FA2DF2B144}"/>
              </a:ext>
            </a:extLst>
          </p:cNvPr>
          <p:cNvSpPr/>
          <p:nvPr/>
        </p:nvSpPr>
        <p:spPr>
          <a:xfrm>
            <a:off x="447676" y="2947522"/>
            <a:ext cx="857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600" b="1" spc="200" dirty="0">
                <a:solidFill>
                  <a:schemeClr val="tx2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2</a:t>
            </a:r>
            <a:endParaRPr lang="en-US" sz="9600" spc="200" dirty="0">
              <a:solidFill>
                <a:schemeClr val="tx2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425ED30C-A8A1-C0F1-E113-C34CFC08C1DC}"/>
              </a:ext>
            </a:extLst>
          </p:cNvPr>
          <p:cNvSpPr/>
          <p:nvPr/>
        </p:nvSpPr>
        <p:spPr>
          <a:xfrm>
            <a:off x="800101" y="4678080"/>
            <a:ext cx="3152776" cy="156966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C01C8E53-0016-49E5-D29D-D71E07FF90B6}"/>
              </a:ext>
            </a:extLst>
          </p:cNvPr>
          <p:cNvSpPr/>
          <p:nvPr/>
        </p:nvSpPr>
        <p:spPr>
          <a:xfrm>
            <a:off x="428626" y="4999875"/>
            <a:ext cx="857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600" b="1" spc="200" dirty="0">
                <a:solidFill>
                  <a:schemeClr val="tx2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3</a:t>
            </a:r>
            <a:endParaRPr lang="en-US" sz="9600" spc="200" dirty="0">
              <a:solidFill>
                <a:schemeClr val="tx2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90D6DD0C-F0FF-5DD7-37ED-0827F09364D4}"/>
              </a:ext>
            </a:extLst>
          </p:cNvPr>
          <p:cNvSpPr/>
          <p:nvPr/>
        </p:nvSpPr>
        <p:spPr>
          <a:xfrm>
            <a:off x="8239119" y="573375"/>
            <a:ext cx="3152776" cy="156966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6DF02345-322E-43A8-2893-2487E601A5A4}"/>
              </a:ext>
            </a:extLst>
          </p:cNvPr>
          <p:cNvSpPr/>
          <p:nvPr/>
        </p:nvSpPr>
        <p:spPr>
          <a:xfrm>
            <a:off x="10877547" y="895170"/>
            <a:ext cx="857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600" b="1" spc="200" dirty="0">
                <a:solidFill>
                  <a:schemeClr val="tx2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4</a:t>
            </a:r>
            <a:endParaRPr lang="en-US" sz="9600" spc="200" dirty="0">
              <a:solidFill>
                <a:schemeClr val="tx2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77047910-BA63-29F0-ABA0-B58242265BE2}"/>
              </a:ext>
            </a:extLst>
          </p:cNvPr>
          <p:cNvSpPr/>
          <p:nvPr/>
        </p:nvSpPr>
        <p:spPr>
          <a:xfrm>
            <a:off x="8239119" y="2625727"/>
            <a:ext cx="3152776" cy="156966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408B138-BB00-D515-509D-7289A787C2EB}"/>
              </a:ext>
            </a:extLst>
          </p:cNvPr>
          <p:cNvSpPr/>
          <p:nvPr/>
        </p:nvSpPr>
        <p:spPr>
          <a:xfrm>
            <a:off x="10991845" y="2947522"/>
            <a:ext cx="857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600" b="1" spc="200" dirty="0">
                <a:solidFill>
                  <a:schemeClr val="tx2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5</a:t>
            </a:r>
            <a:endParaRPr lang="en-US" sz="9600" spc="200" dirty="0">
              <a:solidFill>
                <a:schemeClr val="tx2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1717A3F8-4E2B-02D5-C154-78ACEF50B73A}"/>
              </a:ext>
            </a:extLst>
          </p:cNvPr>
          <p:cNvSpPr/>
          <p:nvPr/>
        </p:nvSpPr>
        <p:spPr>
          <a:xfrm>
            <a:off x="8239119" y="4678080"/>
            <a:ext cx="3152776" cy="156966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8AC05E39-4ED3-E27A-3A09-99345D9033E3}"/>
              </a:ext>
            </a:extLst>
          </p:cNvPr>
          <p:cNvSpPr/>
          <p:nvPr/>
        </p:nvSpPr>
        <p:spPr>
          <a:xfrm>
            <a:off x="10896595" y="4999875"/>
            <a:ext cx="857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600" b="1" spc="200" dirty="0">
                <a:solidFill>
                  <a:schemeClr val="tx2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6</a:t>
            </a:r>
            <a:endParaRPr lang="en-US" sz="9600" spc="200" dirty="0">
              <a:solidFill>
                <a:schemeClr val="tx2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16" name="Persegi Panjang: Sudut Lengkung 15">
            <a:extLst>
              <a:ext uri="{FF2B5EF4-FFF2-40B4-BE49-F238E27FC236}">
                <a16:creationId xmlns:a16="http://schemas.microsoft.com/office/drawing/2014/main" id="{4C423E5C-3F01-1900-541D-36CA2090FA7F}"/>
              </a:ext>
            </a:extLst>
          </p:cNvPr>
          <p:cNvSpPr/>
          <p:nvPr/>
        </p:nvSpPr>
        <p:spPr>
          <a:xfrm>
            <a:off x="787874" y="328329"/>
            <a:ext cx="3152775" cy="15655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B37B4C74-6940-9432-C8E9-C6DB38B36937}"/>
              </a:ext>
            </a:extLst>
          </p:cNvPr>
          <p:cNvSpPr/>
          <p:nvPr/>
        </p:nvSpPr>
        <p:spPr>
          <a:xfrm rot="16200000">
            <a:off x="3194685" y="2687282"/>
            <a:ext cx="578357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spc="2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BEPEC CT </a:t>
            </a:r>
          </a:p>
          <a:p>
            <a:pPr algn="ctr"/>
            <a:r>
              <a:rPr lang="en-US" sz="4400" b="1" spc="2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OOPS Agenda</a:t>
            </a:r>
            <a:endParaRPr lang="en-US" sz="4400" spc="200" dirty="0">
              <a:solidFill>
                <a:schemeClr val="tx2"/>
              </a:solidFill>
              <a:latin typeface="Poppins" pitchFamily="2" charset="77"/>
              <a:ea typeface="Raleway" charset="0"/>
              <a:cs typeface="Poppins" pitchFamily="2" charset="77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ACDE355C-E2E0-FF35-DDAB-5032A05D4533}"/>
              </a:ext>
            </a:extLst>
          </p:cNvPr>
          <p:cNvSpPr/>
          <p:nvPr/>
        </p:nvSpPr>
        <p:spPr>
          <a:xfrm>
            <a:off x="1314452" y="1255146"/>
            <a:ext cx="20306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1. What is OOPS</a:t>
            </a:r>
          </a:p>
          <a:p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2. Why OOPS</a:t>
            </a:r>
          </a:p>
          <a:p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3. Creating Simple OOPS Code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ADDD6132-F1DF-E57E-1B44-4AEDC2C814CB}"/>
              </a:ext>
            </a:extLst>
          </p:cNvPr>
          <p:cNvSpPr/>
          <p:nvPr/>
        </p:nvSpPr>
        <p:spPr>
          <a:xfrm>
            <a:off x="1300101" y="829134"/>
            <a:ext cx="2652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Introduction to OOPS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8E5FDE1E-9009-B2AB-1163-EC1356062486}"/>
              </a:ext>
            </a:extLst>
          </p:cNvPr>
          <p:cNvSpPr/>
          <p:nvPr/>
        </p:nvSpPr>
        <p:spPr>
          <a:xfrm>
            <a:off x="1314451" y="3506915"/>
            <a:ext cx="28204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What is Instance, Instance Attribute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Access the Instance Attribute &amp; Update it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What is Class Attribute?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41ADA53D-BA8D-38F2-B784-A58D47AE01B8}"/>
              </a:ext>
            </a:extLst>
          </p:cNvPr>
          <p:cNvSpPr/>
          <p:nvPr/>
        </p:nvSpPr>
        <p:spPr>
          <a:xfrm>
            <a:off x="1300101" y="2898951"/>
            <a:ext cx="2932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What is Class &amp; Object?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0C3BB793-7E11-BA9A-928E-FFF003BC3856}"/>
              </a:ext>
            </a:extLst>
          </p:cNvPr>
          <p:cNvSpPr/>
          <p:nvPr/>
        </p:nvSpPr>
        <p:spPr>
          <a:xfrm>
            <a:off x="1314452" y="5535416"/>
            <a:ext cx="24704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Public &amp; Non-Public Attributes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Name Mangling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Getter &amp; Setter Commands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D564590A-F1EA-61E2-EAE6-FD26C585EBEC}"/>
              </a:ext>
            </a:extLst>
          </p:cNvPr>
          <p:cNvSpPr/>
          <p:nvPr/>
        </p:nvSpPr>
        <p:spPr>
          <a:xfrm>
            <a:off x="1300101" y="4935779"/>
            <a:ext cx="2932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Encapsulation &amp; Abstraction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45862E69-5B97-3FB4-71A4-0DECB15C257E}"/>
              </a:ext>
            </a:extLst>
          </p:cNvPr>
          <p:cNvSpPr/>
          <p:nvPr/>
        </p:nvSpPr>
        <p:spPr>
          <a:xfrm>
            <a:off x="8533388" y="1275358"/>
            <a:ext cx="26130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Calling Methods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Non-Public Methods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Methods &amp; Return Statements</a:t>
            </a: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D87B6E15-0857-989F-DCD2-5612242D5BAD}"/>
              </a:ext>
            </a:extLst>
          </p:cNvPr>
          <p:cNvSpPr/>
          <p:nvPr/>
        </p:nvSpPr>
        <p:spPr>
          <a:xfrm>
            <a:off x="8519037" y="849346"/>
            <a:ext cx="23765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Methods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E85F6905-5E9A-8880-4CDB-79CF12B39958}"/>
              </a:ext>
            </a:extLst>
          </p:cNvPr>
          <p:cNvSpPr/>
          <p:nvPr/>
        </p:nvSpPr>
        <p:spPr>
          <a:xfrm>
            <a:off x="8533387" y="3345175"/>
            <a:ext cx="24584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Aggregation vs Composition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“is” Operator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Aliasing, Mutability &amp; Cloning</a:t>
            </a: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F5909D2B-7CB1-C859-E96C-2990790F32EA}"/>
              </a:ext>
            </a:extLst>
          </p:cNvPr>
          <p:cNvSpPr/>
          <p:nvPr/>
        </p:nvSpPr>
        <p:spPr>
          <a:xfrm>
            <a:off x="8519037" y="2919163"/>
            <a:ext cx="23765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Aggregation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8430275D-E09E-F8CC-2C4E-D0C63BF21E62}"/>
              </a:ext>
            </a:extLst>
          </p:cNvPr>
          <p:cNvSpPr/>
          <p:nvPr/>
        </p:nvSpPr>
        <p:spPr>
          <a:xfrm>
            <a:off x="8533388" y="5382003"/>
            <a:ext cx="26130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Using Super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Types of Inheritance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Overloading &amp; Overriding</a:t>
            </a:r>
          </a:p>
          <a:p>
            <a:pPr marL="228600" indent="-228600">
              <a:buAutoNum type="arabicPeriod"/>
            </a:pPr>
            <a:r>
              <a:rPr lang="en-US" sz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ea typeface="Raleway" charset="0"/>
                <a:cs typeface="Poppins" pitchFamily="2" charset="77"/>
              </a:rPr>
              <a:t>Polymorphism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E3D5044A-D7D4-03C4-A7CA-FA0AE3053EDA}"/>
              </a:ext>
            </a:extLst>
          </p:cNvPr>
          <p:cNvSpPr/>
          <p:nvPr/>
        </p:nvSpPr>
        <p:spPr>
          <a:xfrm>
            <a:off x="8519037" y="4955991"/>
            <a:ext cx="23765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Poppins" pitchFamily="2" charset="77"/>
                <a:ea typeface="Raleway" charset="0"/>
                <a:cs typeface="Poppins" pitchFamily="2" charset="77"/>
              </a:rPr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391261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Object Oriented Programming is a </a:t>
            </a:r>
            <a:r>
              <a:rPr lang="en-IN" b="1" i="1" u="sng" strike="noStrike" dirty="0">
                <a:effectLst/>
              </a:rPr>
              <a:t>programming paradigm</a:t>
            </a:r>
            <a:r>
              <a:rPr lang="en-IN" b="0" i="0" u="none" strike="noStrike" dirty="0">
                <a:effectLst/>
              </a:rPr>
              <a:t> based on the concept of </a:t>
            </a:r>
            <a:r>
              <a:rPr lang="en-IN" b="1" i="1" u="sng" strike="noStrike" dirty="0">
                <a:effectLst/>
              </a:rPr>
              <a:t>Objects</a:t>
            </a:r>
            <a:r>
              <a:rPr lang="en-IN" b="0" i="0" u="none" strike="noStrike" dirty="0">
                <a:effectLst/>
              </a:rPr>
              <a:t>, which can contain data</a:t>
            </a:r>
            <a:r>
              <a:rPr lang="en-IN" b="1" i="1" u="sng" strike="noStrike" dirty="0">
                <a:effectLst/>
              </a:rPr>
              <a:t>(attributes) </a:t>
            </a:r>
            <a:r>
              <a:rPr lang="en-IN" b="0" i="0" u="none" strike="noStrike" dirty="0">
                <a:effectLst/>
              </a:rPr>
              <a:t>and code</a:t>
            </a:r>
            <a:r>
              <a:rPr lang="en-IN" b="1" i="1" u="sng" strike="noStrike" dirty="0">
                <a:effectLst/>
              </a:rPr>
              <a:t>(methods)</a:t>
            </a:r>
          </a:p>
          <a:p>
            <a:r>
              <a:rPr lang="en-IN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Programming paradigms are different ways or styles in which a given program or programming language can be organized. Each paradigm consists of certain structures, features, and opinions about how common programming problems should be tackled.</a:t>
            </a:r>
            <a:endParaRPr lang="en-IN" b="1" i="1" u="sng" strike="noStrike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151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Object Oriented Programming is a </a:t>
            </a:r>
            <a:r>
              <a:rPr lang="en-IN" b="1" i="1" u="sng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programming paradigm</a:t>
            </a:r>
            <a:r>
              <a:rPr lang="en-IN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 based on the concept of </a:t>
            </a:r>
            <a:r>
              <a:rPr lang="en-IN" b="1" i="1" u="sng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Objects</a:t>
            </a:r>
            <a:r>
              <a:rPr lang="en-IN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, which can contain data</a:t>
            </a:r>
            <a:r>
              <a:rPr lang="en-IN" b="1" i="1" u="sng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(attributes) </a:t>
            </a:r>
            <a:r>
              <a:rPr lang="en-IN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and code</a:t>
            </a:r>
            <a:r>
              <a:rPr lang="en-IN" b="1" i="1" u="sng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(methods)</a:t>
            </a:r>
          </a:p>
          <a:p>
            <a:r>
              <a:rPr lang="en-IN" b="0" i="0" u="none" strike="noStrike" dirty="0">
                <a:effectLst/>
              </a:rPr>
              <a:t>Programming paradigms are different ways or styles in which a given program or programming language can be organized. Each paradigm consists of certain structures, features, and opinions about how </a:t>
            </a:r>
            <a:r>
              <a:rPr lang="en-IN" b="1" i="1" u="sng" strike="noStrike" dirty="0">
                <a:effectLst/>
              </a:rPr>
              <a:t>common programming problems should be tackled.</a:t>
            </a:r>
          </a:p>
        </p:txBody>
      </p:sp>
    </p:spTree>
    <p:extLst>
      <p:ext uri="{BB962C8B-B14F-4D97-AF65-F5344CB8AC3E}">
        <p14:creationId xmlns:p14="http://schemas.microsoft.com/office/powerpoint/2010/main" val="315045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50">
            <a:extLst>
              <a:ext uri="{FF2B5EF4-FFF2-40B4-BE49-F238E27FC236}">
                <a16:creationId xmlns:a16="http://schemas.microsoft.com/office/drawing/2014/main" id="{F312DB1D-4DDE-AE62-EEAE-0684613F140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61953" y="1393170"/>
            <a:ext cx="2868093" cy="6324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buNone/>
            </a:pPr>
            <a:r>
              <a:rPr lang="en-US" sz="45000" b="1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77"/>
                <a:ea typeface="Lato Heavy" charset="0"/>
                <a:cs typeface="Poppins" pitchFamily="2" charset="77"/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Programming Paradigm?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9814DF-AB03-AF67-671D-6CD32A6D54BE}"/>
              </a:ext>
            </a:extLst>
          </p:cNvPr>
          <p:cNvSpPr/>
          <p:nvPr/>
        </p:nvSpPr>
        <p:spPr>
          <a:xfrm>
            <a:off x="6638672" y="3234836"/>
            <a:ext cx="286257" cy="28625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V" sz="9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ACFEAB-E60B-445C-5918-3B58DB981DF8}"/>
              </a:ext>
            </a:extLst>
          </p:cNvPr>
          <p:cNvSpPr/>
          <p:nvPr/>
        </p:nvSpPr>
        <p:spPr>
          <a:xfrm>
            <a:off x="5864833" y="4412446"/>
            <a:ext cx="286257" cy="28625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V" sz="9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77CCAB2-1F1C-5A65-3FDE-75F08C49F262}"/>
              </a:ext>
            </a:extLst>
          </p:cNvPr>
          <p:cNvSpPr/>
          <p:nvPr/>
        </p:nvSpPr>
        <p:spPr>
          <a:xfrm>
            <a:off x="5824188" y="5634131"/>
            <a:ext cx="286257" cy="2862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V" sz="9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36C74D-6513-35BD-ACC0-75BBD8072FCC}"/>
              </a:ext>
            </a:extLst>
          </p:cNvPr>
          <p:cNvCxnSpPr>
            <a:cxnSpLocks/>
          </p:cNvCxnSpPr>
          <p:nvPr/>
        </p:nvCxnSpPr>
        <p:spPr>
          <a:xfrm flipH="1">
            <a:off x="1352083" y="2470290"/>
            <a:ext cx="4270376" cy="1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49F2C5-4C9C-653E-4A2C-6DD9C5040262}"/>
              </a:ext>
            </a:extLst>
          </p:cNvPr>
          <p:cNvCxnSpPr/>
          <p:nvPr/>
        </p:nvCxnSpPr>
        <p:spPr>
          <a:xfrm flipH="1" flipV="1">
            <a:off x="6795248" y="3381787"/>
            <a:ext cx="4044670" cy="1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01038E-5B48-6A9E-BA3F-F6B3040C0EE7}"/>
              </a:ext>
            </a:extLst>
          </p:cNvPr>
          <p:cNvCxnSpPr>
            <a:cxnSpLocks/>
          </p:cNvCxnSpPr>
          <p:nvPr/>
        </p:nvCxnSpPr>
        <p:spPr>
          <a:xfrm flipH="1">
            <a:off x="1335743" y="4555575"/>
            <a:ext cx="4760258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115E5A-64A5-37DB-FA39-A58450164784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5772233"/>
            <a:ext cx="4743918" cy="16468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2BB015B-79ED-D785-7F21-9DBE6EEE87AC}"/>
              </a:ext>
            </a:extLst>
          </p:cNvPr>
          <p:cNvSpPr txBox="1"/>
          <p:nvPr/>
        </p:nvSpPr>
        <p:spPr>
          <a:xfrm>
            <a:off x="1335741" y="2613791"/>
            <a:ext cx="3624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Imperative Programming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7E3504-ABC1-32A8-3861-E1B99151AF28}"/>
              </a:ext>
            </a:extLst>
          </p:cNvPr>
          <p:cNvSpPr txBox="1"/>
          <p:nvPr/>
        </p:nvSpPr>
        <p:spPr>
          <a:xfrm>
            <a:off x="1335741" y="4673489"/>
            <a:ext cx="3624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Functional Programming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A9A31F-D38C-B226-170D-26FF53B726A8}"/>
              </a:ext>
            </a:extLst>
          </p:cNvPr>
          <p:cNvSpPr txBox="1"/>
          <p:nvPr/>
        </p:nvSpPr>
        <p:spPr>
          <a:xfrm>
            <a:off x="7231567" y="3523129"/>
            <a:ext cx="3624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Procedural Programming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3475EB-F47C-225C-B821-13620D72EB13}"/>
              </a:ext>
            </a:extLst>
          </p:cNvPr>
          <p:cNvSpPr txBox="1"/>
          <p:nvPr/>
        </p:nvSpPr>
        <p:spPr>
          <a:xfrm>
            <a:off x="7231567" y="5920465"/>
            <a:ext cx="3624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Declarative Programming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61182D-DDA0-12D6-CB98-3E8C68794249}"/>
              </a:ext>
            </a:extLst>
          </p:cNvPr>
          <p:cNvSpPr/>
          <p:nvPr/>
        </p:nvSpPr>
        <p:spPr>
          <a:xfrm>
            <a:off x="5472157" y="2322473"/>
            <a:ext cx="286257" cy="286257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V" sz="900"/>
          </a:p>
        </p:txBody>
      </p:sp>
    </p:spTree>
    <p:extLst>
      <p:ext uri="{BB962C8B-B14F-4D97-AF65-F5344CB8AC3E}">
        <p14:creationId xmlns:p14="http://schemas.microsoft.com/office/powerpoint/2010/main" val="187849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Programming Paradigm?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C362850-227D-E8FF-A9B3-151C31F16DB5}"/>
              </a:ext>
            </a:extLst>
          </p:cNvPr>
          <p:cNvSpPr txBox="1">
            <a:spLocks/>
          </p:cNvSpPr>
          <p:nvPr/>
        </p:nvSpPr>
        <p:spPr>
          <a:xfrm flipH="1">
            <a:off x="476418" y="2674847"/>
            <a:ext cx="3420981" cy="475747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Encapsulation</a:t>
            </a:r>
            <a:endParaRPr lang="id-ID" sz="24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E093CA-ECF4-A956-0B38-28FE596EB761}"/>
              </a:ext>
            </a:extLst>
          </p:cNvPr>
          <p:cNvGrpSpPr/>
          <p:nvPr/>
        </p:nvGrpSpPr>
        <p:grpSpPr>
          <a:xfrm flipH="1">
            <a:off x="4003048" y="2283088"/>
            <a:ext cx="3145750" cy="1190172"/>
            <a:chOff x="4863874" y="2540000"/>
            <a:chExt cx="3145750" cy="1190172"/>
          </a:xfrm>
          <a:solidFill>
            <a:schemeClr val="tx2"/>
          </a:solidFill>
        </p:grpSpPr>
        <p:sp>
          <p:nvSpPr>
            <p:cNvPr id="33" name="Arrow: Right 14">
              <a:extLst>
                <a:ext uri="{FF2B5EF4-FFF2-40B4-BE49-F238E27FC236}">
                  <a16:creationId xmlns:a16="http://schemas.microsoft.com/office/drawing/2014/main" id="{4FCFD4BC-16FB-573B-D0CE-C3132B55DEBE}"/>
                </a:ext>
              </a:extLst>
            </p:cNvPr>
            <p:cNvSpPr/>
            <p:nvPr/>
          </p:nvSpPr>
          <p:spPr>
            <a:xfrm>
              <a:off x="5606824" y="2540000"/>
              <a:ext cx="2402800" cy="1190172"/>
            </a:xfrm>
            <a:prstGeom prst="rightArrow">
              <a:avLst>
                <a:gd name="adj1" fmla="val 59621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B55B770C-EA09-2F9D-1BD7-D342BB825933}"/>
                </a:ext>
              </a:extLst>
            </p:cNvPr>
            <p:cNvSpPr/>
            <p:nvPr/>
          </p:nvSpPr>
          <p:spPr>
            <a:xfrm>
              <a:off x="4863874" y="2781300"/>
              <a:ext cx="1065440" cy="707231"/>
            </a:xfrm>
            <a:custGeom>
              <a:avLst/>
              <a:gdLst>
                <a:gd name="connsiteX0" fmla="*/ 713127 w 1065440"/>
                <a:gd name="connsiteY0" fmla="*/ 0 h 713128"/>
                <a:gd name="connsiteX1" fmla="*/ 1065440 w 1065440"/>
                <a:gd name="connsiteY1" fmla="*/ 0 h 713128"/>
                <a:gd name="connsiteX2" fmla="*/ 1065440 w 1065440"/>
                <a:gd name="connsiteY2" fmla="*/ 713128 h 713128"/>
                <a:gd name="connsiteX3" fmla="*/ 0 w 1065440"/>
                <a:gd name="connsiteY3" fmla="*/ 713128 h 713128"/>
                <a:gd name="connsiteX4" fmla="*/ 0 w 1065440"/>
                <a:gd name="connsiteY4" fmla="*/ 713127 h 71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5440" h="713128">
                  <a:moveTo>
                    <a:pt x="713127" y="0"/>
                  </a:moveTo>
                  <a:lnTo>
                    <a:pt x="1065440" y="0"/>
                  </a:lnTo>
                  <a:lnTo>
                    <a:pt x="1065440" y="713128"/>
                  </a:lnTo>
                  <a:lnTo>
                    <a:pt x="0" y="713128"/>
                  </a:lnTo>
                  <a:lnTo>
                    <a:pt x="0" y="71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C3A19F-9253-0DAE-CD98-15A7C2F4DE22}"/>
              </a:ext>
            </a:extLst>
          </p:cNvPr>
          <p:cNvGrpSpPr/>
          <p:nvPr/>
        </p:nvGrpSpPr>
        <p:grpSpPr>
          <a:xfrm flipH="1">
            <a:off x="4003048" y="3805786"/>
            <a:ext cx="3145750" cy="1190172"/>
            <a:chOff x="4863874" y="2540000"/>
            <a:chExt cx="3145750" cy="1190172"/>
          </a:xfrm>
          <a:gradFill>
            <a:gsLst>
              <a:gs pos="10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2700000" scaled="1"/>
          </a:gradFill>
        </p:grpSpPr>
        <p:sp>
          <p:nvSpPr>
            <p:cNvPr id="42" name="Arrow: Right 20">
              <a:extLst>
                <a:ext uri="{FF2B5EF4-FFF2-40B4-BE49-F238E27FC236}">
                  <a16:creationId xmlns:a16="http://schemas.microsoft.com/office/drawing/2014/main" id="{212EDC10-49A6-8543-29FB-AB13F19724B1}"/>
                </a:ext>
              </a:extLst>
            </p:cNvPr>
            <p:cNvSpPr/>
            <p:nvPr/>
          </p:nvSpPr>
          <p:spPr>
            <a:xfrm>
              <a:off x="5606824" y="2540000"/>
              <a:ext cx="2402800" cy="1190172"/>
            </a:xfrm>
            <a:prstGeom prst="rightArrow">
              <a:avLst>
                <a:gd name="adj1" fmla="val 59621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A1138CA5-60E9-1116-5AD8-9997AF1475E0}"/>
                </a:ext>
              </a:extLst>
            </p:cNvPr>
            <p:cNvSpPr/>
            <p:nvPr/>
          </p:nvSpPr>
          <p:spPr>
            <a:xfrm>
              <a:off x="4863874" y="2781300"/>
              <a:ext cx="1065440" cy="707231"/>
            </a:xfrm>
            <a:custGeom>
              <a:avLst/>
              <a:gdLst>
                <a:gd name="connsiteX0" fmla="*/ 713127 w 1065440"/>
                <a:gd name="connsiteY0" fmla="*/ 0 h 713128"/>
                <a:gd name="connsiteX1" fmla="*/ 1065440 w 1065440"/>
                <a:gd name="connsiteY1" fmla="*/ 0 h 713128"/>
                <a:gd name="connsiteX2" fmla="*/ 1065440 w 1065440"/>
                <a:gd name="connsiteY2" fmla="*/ 713128 h 713128"/>
                <a:gd name="connsiteX3" fmla="*/ 0 w 1065440"/>
                <a:gd name="connsiteY3" fmla="*/ 713128 h 713128"/>
                <a:gd name="connsiteX4" fmla="*/ 0 w 1065440"/>
                <a:gd name="connsiteY4" fmla="*/ 713127 h 71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5440" h="713128">
                  <a:moveTo>
                    <a:pt x="713127" y="0"/>
                  </a:moveTo>
                  <a:lnTo>
                    <a:pt x="1065440" y="0"/>
                  </a:lnTo>
                  <a:lnTo>
                    <a:pt x="1065440" y="713128"/>
                  </a:lnTo>
                  <a:lnTo>
                    <a:pt x="0" y="713128"/>
                  </a:lnTo>
                  <a:lnTo>
                    <a:pt x="0" y="71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0F580E4-5A43-F5FC-E9E8-9951BA0F2D60}"/>
              </a:ext>
            </a:extLst>
          </p:cNvPr>
          <p:cNvGrpSpPr/>
          <p:nvPr/>
        </p:nvGrpSpPr>
        <p:grpSpPr>
          <a:xfrm>
            <a:off x="5043203" y="3044437"/>
            <a:ext cx="3145750" cy="1190172"/>
            <a:chOff x="4863874" y="2540000"/>
            <a:chExt cx="3145750" cy="1190172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8" name="Arrow: Right 1">
              <a:extLst>
                <a:ext uri="{FF2B5EF4-FFF2-40B4-BE49-F238E27FC236}">
                  <a16:creationId xmlns:a16="http://schemas.microsoft.com/office/drawing/2014/main" id="{1157CB9B-BDFC-8A0D-2CFB-66D7175C61BC}"/>
                </a:ext>
              </a:extLst>
            </p:cNvPr>
            <p:cNvSpPr/>
            <p:nvPr/>
          </p:nvSpPr>
          <p:spPr>
            <a:xfrm>
              <a:off x="5606824" y="2540000"/>
              <a:ext cx="2402800" cy="1190172"/>
            </a:xfrm>
            <a:prstGeom prst="rightArrow">
              <a:avLst>
                <a:gd name="adj1" fmla="val 59621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9" name="Freeform: Shape 8">
              <a:extLst>
                <a:ext uri="{FF2B5EF4-FFF2-40B4-BE49-F238E27FC236}">
                  <a16:creationId xmlns:a16="http://schemas.microsoft.com/office/drawing/2014/main" id="{359A897C-BE51-ADD8-DF9E-EDD970B1AD94}"/>
                </a:ext>
              </a:extLst>
            </p:cNvPr>
            <p:cNvSpPr/>
            <p:nvPr/>
          </p:nvSpPr>
          <p:spPr>
            <a:xfrm>
              <a:off x="4863874" y="2781300"/>
              <a:ext cx="1065440" cy="707231"/>
            </a:xfrm>
            <a:custGeom>
              <a:avLst/>
              <a:gdLst>
                <a:gd name="connsiteX0" fmla="*/ 713127 w 1065440"/>
                <a:gd name="connsiteY0" fmla="*/ 0 h 713128"/>
                <a:gd name="connsiteX1" fmla="*/ 1065440 w 1065440"/>
                <a:gd name="connsiteY1" fmla="*/ 0 h 713128"/>
                <a:gd name="connsiteX2" fmla="*/ 1065440 w 1065440"/>
                <a:gd name="connsiteY2" fmla="*/ 713128 h 713128"/>
                <a:gd name="connsiteX3" fmla="*/ 0 w 1065440"/>
                <a:gd name="connsiteY3" fmla="*/ 713128 h 713128"/>
                <a:gd name="connsiteX4" fmla="*/ 0 w 1065440"/>
                <a:gd name="connsiteY4" fmla="*/ 713127 h 71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5440" h="713128">
                  <a:moveTo>
                    <a:pt x="713127" y="0"/>
                  </a:moveTo>
                  <a:lnTo>
                    <a:pt x="1065440" y="0"/>
                  </a:lnTo>
                  <a:lnTo>
                    <a:pt x="1065440" y="713128"/>
                  </a:lnTo>
                  <a:lnTo>
                    <a:pt x="0" y="713128"/>
                  </a:lnTo>
                  <a:lnTo>
                    <a:pt x="0" y="71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6DDEABC-B615-9A2E-656C-DDB84A8A9660}"/>
              </a:ext>
            </a:extLst>
          </p:cNvPr>
          <p:cNvGrpSpPr/>
          <p:nvPr/>
        </p:nvGrpSpPr>
        <p:grpSpPr>
          <a:xfrm>
            <a:off x="5043203" y="4567135"/>
            <a:ext cx="3145750" cy="1190172"/>
            <a:chOff x="4863874" y="2540000"/>
            <a:chExt cx="3145750" cy="1190172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6" name="Arrow: Right 22">
              <a:extLst>
                <a:ext uri="{FF2B5EF4-FFF2-40B4-BE49-F238E27FC236}">
                  <a16:creationId xmlns:a16="http://schemas.microsoft.com/office/drawing/2014/main" id="{9DB09F73-38FD-3174-AEEF-95C1C77AF300}"/>
                </a:ext>
              </a:extLst>
            </p:cNvPr>
            <p:cNvSpPr/>
            <p:nvPr/>
          </p:nvSpPr>
          <p:spPr>
            <a:xfrm>
              <a:off x="5606824" y="2540000"/>
              <a:ext cx="2402800" cy="1190172"/>
            </a:xfrm>
            <a:prstGeom prst="rightArrow">
              <a:avLst>
                <a:gd name="adj1" fmla="val 59621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6B0A1CEC-E3EF-81FD-0A05-15F7507743E4}"/>
                </a:ext>
              </a:extLst>
            </p:cNvPr>
            <p:cNvSpPr/>
            <p:nvPr/>
          </p:nvSpPr>
          <p:spPr>
            <a:xfrm>
              <a:off x="4863874" y="2781300"/>
              <a:ext cx="1065440" cy="707231"/>
            </a:xfrm>
            <a:custGeom>
              <a:avLst/>
              <a:gdLst>
                <a:gd name="connsiteX0" fmla="*/ 713127 w 1065440"/>
                <a:gd name="connsiteY0" fmla="*/ 0 h 713128"/>
                <a:gd name="connsiteX1" fmla="*/ 1065440 w 1065440"/>
                <a:gd name="connsiteY1" fmla="*/ 0 h 713128"/>
                <a:gd name="connsiteX2" fmla="*/ 1065440 w 1065440"/>
                <a:gd name="connsiteY2" fmla="*/ 713128 h 713128"/>
                <a:gd name="connsiteX3" fmla="*/ 0 w 1065440"/>
                <a:gd name="connsiteY3" fmla="*/ 713128 h 713128"/>
                <a:gd name="connsiteX4" fmla="*/ 0 w 1065440"/>
                <a:gd name="connsiteY4" fmla="*/ 713127 h 71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5440" h="713128">
                  <a:moveTo>
                    <a:pt x="713127" y="0"/>
                  </a:moveTo>
                  <a:lnTo>
                    <a:pt x="1065440" y="0"/>
                  </a:lnTo>
                  <a:lnTo>
                    <a:pt x="1065440" y="713128"/>
                  </a:lnTo>
                  <a:lnTo>
                    <a:pt x="0" y="713128"/>
                  </a:lnTo>
                  <a:lnTo>
                    <a:pt x="0" y="71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BB9F7CCE-0EAB-F64E-A8FA-F4566CE04F39}"/>
              </a:ext>
            </a:extLst>
          </p:cNvPr>
          <p:cNvSpPr txBox="1">
            <a:spLocks/>
          </p:cNvSpPr>
          <p:nvPr/>
        </p:nvSpPr>
        <p:spPr>
          <a:xfrm flipH="1">
            <a:off x="6851593" y="3472919"/>
            <a:ext cx="3420981" cy="475747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Abstraction</a:t>
            </a:r>
            <a:endParaRPr lang="id-ID" sz="24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05628F5A-8B8A-D1D8-7C8A-B490484D37CE}"/>
              </a:ext>
            </a:extLst>
          </p:cNvPr>
          <p:cNvSpPr txBox="1">
            <a:spLocks/>
          </p:cNvSpPr>
          <p:nvPr/>
        </p:nvSpPr>
        <p:spPr>
          <a:xfrm flipH="1">
            <a:off x="506079" y="4232270"/>
            <a:ext cx="3420981" cy="475747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Inheritance</a:t>
            </a:r>
            <a:endParaRPr lang="id-ID" sz="24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4E06647A-3A2E-E649-0E30-1AF886289773}"/>
              </a:ext>
            </a:extLst>
          </p:cNvPr>
          <p:cNvSpPr txBox="1">
            <a:spLocks/>
          </p:cNvSpPr>
          <p:nvPr/>
        </p:nvSpPr>
        <p:spPr>
          <a:xfrm flipH="1">
            <a:off x="6722892" y="5009204"/>
            <a:ext cx="3981315" cy="475747"/>
          </a:xfrm>
          <a:prstGeom prst="rect">
            <a:avLst/>
          </a:prstGeom>
        </p:spPr>
        <p:txBody>
          <a:bodyPr/>
          <a:lstStyle>
            <a:lvl1pPr marL="0" indent="0" algn="ctr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Polymorphism</a:t>
            </a:r>
            <a:endParaRPr lang="id-ID" sz="24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3945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 &amp; Object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3A923-D526-22F2-4B36-22A9C1A3A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57" y="1690688"/>
            <a:ext cx="5486685" cy="4883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EF942D-043A-1E6B-ACD4-E19D67235226}"/>
              </a:ext>
            </a:extLst>
          </p:cNvPr>
          <p:cNvSpPr txBox="1"/>
          <p:nvPr/>
        </p:nvSpPr>
        <p:spPr>
          <a:xfrm>
            <a:off x="9086127" y="3244334"/>
            <a:ext cx="226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&amp; Behavior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B53160-B4AC-73F3-521F-0D76EA516E4C}"/>
              </a:ext>
            </a:extLst>
          </p:cNvPr>
          <p:cNvCxnSpPr/>
          <p:nvPr/>
        </p:nvCxnSpPr>
        <p:spPr>
          <a:xfrm flipH="1">
            <a:off x="8962735" y="3244334"/>
            <a:ext cx="678976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4145E52-4241-A325-AD13-DCDD434B8785}"/>
              </a:ext>
            </a:extLst>
          </p:cNvPr>
          <p:cNvSpPr txBox="1"/>
          <p:nvPr/>
        </p:nvSpPr>
        <p:spPr>
          <a:xfrm>
            <a:off x="9086127" y="5572775"/>
            <a:ext cx="226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&amp; Behavior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784DC0-AEE4-47F9-96A7-D4A77356BBED}"/>
              </a:ext>
            </a:extLst>
          </p:cNvPr>
          <p:cNvCxnSpPr/>
          <p:nvPr/>
        </p:nvCxnSpPr>
        <p:spPr>
          <a:xfrm flipH="1">
            <a:off x="8983991" y="5566552"/>
            <a:ext cx="678976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68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OOPS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CFBF35-1005-258E-60F9-C2FDC4440200}"/>
              </a:ext>
            </a:extLst>
          </p:cNvPr>
          <p:cNvGrpSpPr/>
          <p:nvPr/>
        </p:nvGrpSpPr>
        <p:grpSpPr>
          <a:xfrm>
            <a:off x="3333509" y="2095018"/>
            <a:ext cx="6457566" cy="4762982"/>
            <a:chOff x="4293985" y="3049202"/>
            <a:chExt cx="4848908" cy="380879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DDDA521-6A75-3E1A-1075-1BF5C65748EB}"/>
                </a:ext>
              </a:extLst>
            </p:cNvPr>
            <p:cNvGrpSpPr/>
            <p:nvPr/>
          </p:nvGrpSpPr>
          <p:grpSpPr>
            <a:xfrm>
              <a:off x="4293985" y="3049202"/>
              <a:ext cx="4530700" cy="3808798"/>
              <a:chOff x="4293985" y="3049202"/>
              <a:chExt cx="4530700" cy="380879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0A130B2-CE82-BB7C-6DDA-5EEBA8864DCB}"/>
                  </a:ext>
                </a:extLst>
              </p:cNvPr>
              <p:cNvGrpSpPr/>
              <p:nvPr/>
            </p:nvGrpSpPr>
            <p:grpSpPr>
              <a:xfrm>
                <a:off x="4293985" y="3049202"/>
                <a:ext cx="4530700" cy="2683668"/>
                <a:chOff x="12477823" y="3669006"/>
                <a:chExt cx="5622292" cy="3330251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2A535202-AD54-0C92-9A20-707B2BC16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98632" y="4771788"/>
                  <a:ext cx="2216151" cy="1697566"/>
                </a:xfrm>
                <a:custGeom>
                  <a:avLst/>
                  <a:gdLst/>
                  <a:ahLst/>
                  <a:cxnLst>
                    <a:cxn ang="0">
                      <a:pos x="363" y="0"/>
                    </a:cxn>
                    <a:cxn ang="0">
                      <a:pos x="380" y="1"/>
                    </a:cxn>
                    <a:cxn ang="0">
                      <a:pos x="441" y="72"/>
                    </a:cxn>
                    <a:cxn ang="0">
                      <a:pos x="441" y="161"/>
                    </a:cxn>
                    <a:cxn ang="0">
                      <a:pos x="380" y="233"/>
                    </a:cxn>
                    <a:cxn ang="0">
                      <a:pos x="363" y="233"/>
                    </a:cxn>
                    <a:cxn ang="0">
                      <a:pos x="95" y="233"/>
                    </a:cxn>
                    <a:cxn ang="0">
                      <a:pos x="32" y="264"/>
                    </a:cxn>
                    <a:cxn ang="0">
                      <a:pos x="0" y="338"/>
                    </a:cxn>
                    <a:cxn ang="0">
                      <a:pos x="0" y="72"/>
                    </a:cxn>
                    <a:cxn ang="0">
                      <a:pos x="23" y="14"/>
                    </a:cxn>
                    <a:cxn ang="0">
                      <a:pos x="72" y="0"/>
                    </a:cxn>
                    <a:cxn ang="0">
                      <a:pos x="363" y="0"/>
                    </a:cxn>
                  </a:cxnLst>
                  <a:rect l="0" t="0" r="r" b="b"/>
                  <a:pathLst>
                    <a:path w="441" h="338">
                      <a:moveTo>
                        <a:pt x="363" y="0"/>
                      </a:moveTo>
                      <a:cubicBezTo>
                        <a:pt x="369" y="0"/>
                        <a:pt x="374" y="1"/>
                        <a:pt x="380" y="1"/>
                      </a:cubicBezTo>
                      <a:cubicBezTo>
                        <a:pt x="421" y="4"/>
                        <a:pt x="441" y="28"/>
                        <a:pt x="441" y="72"/>
                      </a:cubicBezTo>
                      <a:cubicBezTo>
                        <a:pt x="441" y="161"/>
                        <a:pt x="441" y="161"/>
                        <a:pt x="441" y="161"/>
                      </a:cubicBezTo>
                      <a:cubicBezTo>
                        <a:pt x="441" y="206"/>
                        <a:pt x="421" y="229"/>
                        <a:pt x="380" y="233"/>
                      </a:cubicBezTo>
                      <a:cubicBezTo>
                        <a:pt x="374" y="233"/>
                        <a:pt x="369" y="233"/>
                        <a:pt x="363" y="233"/>
                      </a:cubicBezTo>
                      <a:cubicBezTo>
                        <a:pt x="95" y="233"/>
                        <a:pt x="95" y="233"/>
                        <a:pt x="95" y="233"/>
                      </a:cubicBezTo>
                      <a:cubicBezTo>
                        <a:pt x="71" y="236"/>
                        <a:pt x="50" y="246"/>
                        <a:pt x="32" y="264"/>
                      </a:cubicBezTo>
                      <a:cubicBezTo>
                        <a:pt x="11" y="285"/>
                        <a:pt x="0" y="310"/>
                        <a:pt x="0" y="338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45"/>
                        <a:pt x="7" y="26"/>
                        <a:pt x="23" y="14"/>
                      </a:cubicBezTo>
                      <a:cubicBezTo>
                        <a:pt x="35" y="5"/>
                        <a:pt x="51" y="0"/>
                        <a:pt x="72" y="0"/>
                      </a:cubicBez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 dirty="0"/>
                </a:p>
              </p:txBody>
            </p:sp>
            <p:sp>
              <p:nvSpPr>
                <p:cNvPr id="26" name="Freeform 5">
                  <a:extLst>
                    <a:ext uri="{FF2B5EF4-FFF2-40B4-BE49-F238E27FC236}">
                      <a16:creationId xmlns:a16="http://schemas.microsoft.com/office/drawing/2014/main" id="{B6F7DB3D-66A7-B0E2-0DBE-5ECEAB31E6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477823" y="5301691"/>
                  <a:ext cx="2216151" cy="1697566"/>
                </a:xfrm>
                <a:custGeom>
                  <a:avLst/>
                  <a:gdLst/>
                  <a:ahLst/>
                  <a:cxnLst>
                    <a:cxn ang="0">
                      <a:pos x="363" y="0"/>
                    </a:cxn>
                    <a:cxn ang="0">
                      <a:pos x="380" y="1"/>
                    </a:cxn>
                    <a:cxn ang="0">
                      <a:pos x="441" y="72"/>
                    </a:cxn>
                    <a:cxn ang="0">
                      <a:pos x="441" y="161"/>
                    </a:cxn>
                    <a:cxn ang="0">
                      <a:pos x="380" y="233"/>
                    </a:cxn>
                    <a:cxn ang="0">
                      <a:pos x="363" y="233"/>
                    </a:cxn>
                    <a:cxn ang="0">
                      <a:pos x="95" y="233"/>
                    </a:cxn>
                    <a:cxn ang="0">
                      <a:pos x="32" y="264"/>
                    </a:cxn>
                    <a:cxn ang="0">
                      <a:pos x="0" y="338"/>
                    </a:cxn>
                    <a:cxn ang="0">
                      <a:pos x="0" y="72"/>
                    </a:cxn>
                    <a:cxn ang="0">
                      <a:pos x="23" y="14"/>
                    </a:cxn>
                    <a:cxn ang="0">
                      <a:pos x="72" y="0"/>
                    </a:cxn>
                    <a:cxn ang="0">
                      <a:pos x="363" y="0"/>
                    </a:cxn>
                  </a:cxnLst>
                  <a:rect l="0" t="0" r="r" b="b"/>
                  <a:pathLst>
                    <a:path w="441" h="338">
                      <a:moveTo>
                        <a:pt x="363" y="0"/>
                      </a:moveTo>
                      <a:cubicBezTo>
                        <a:pt x="369" y="0"/>
                        <a:pt x="374" y="1"/>
                        <a:pt x="380" y="1"/>
                      </a:cubicBezTo>
                      <a:cubicBezTo>
                        <a:pt x="421" y="4"/>
                        <a:pt x="441" y="28"/>
                        <a:pt x="441" y="72"/>
                      </a:cubicBezTo>
                      <a:cubicBezTo>
                        <a:pt x="441" y="161"/>
                        <a:pt x="441" y="161"/>
                        <a:pt x="441" y="161"/>
                      </a:cubicBezTo>
                      <a:cubicBezTo>
                        <a:pt x="441" y="206"/>
                        <a:pt x="421" y="229"/>
                        <a:pt x="380" y="233"/>
                      </a:cubicBezTo>
                      <a:cubicBezTo>
                        <a:pt x="374" y="233"/>
                        <a:pt x="369" y="233"/>
                        <a:pt x="363" y="233"/>
                      </a:cubicBezTo>
                      <a:cubicBezTo>
                        <a:pt x="95" y="233"/>
                        <a:pt x="95" y="233"/>
                        <a:pt x="95" y="233"/>
                      </a:cubicBezTo>
                      <a:cubicBezTo>
                        <a:pt x="71" y="236"/>
                        <a:pt x="50" y="246"/>
                        <a:pt x="32" y="264"/>
                      </a:cubicBezTo>
                      <a:cubicBezTo>
                        <a:pt x="11" y="285"/>
                        <a:pt x="0" y="310"/>
                        <a:pt x="0" y="338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45"/>
                        <a:pt x="7" y="26"/>
                        <a:pt x="23" y="14"/>
                      </a:cubicBezTo>
                      <a:cubicBezTo>
                        <a:pt x="35" y="5"/>
                        <a:pt x="51" y="0"/>
                        <a:pt x="72" y="0"/>
                      </a:cubicBez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/>
                </a:p>
              </p:txBody>
            </p:sp>
            <p:sp>
              <p:nvSpPr>
                <p:cNvPr id="27" name="Freeform 6">
                  <a:extLst>
                    <a:ext uri="{FF2B5EF4-FFF2-40B4-BE49-F238E27FC236}">
                      <a16:creationId xmlns:a16="http://schemas.microsoft.com/office/drawing/2014/main" id="{DF6304B9-C7A6-B7E7-43F8-D0973702A9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98632" y="3669006"/>
                  <a:ext cx="3401483" cy="1695452"/>
                </a:xfrm>
                <a:custGeom>
                  <a:avLst/>
                  <a:gdLst/>
                  <a:ahLst/>
                  <a:cxnLst>
                    <a:cxn ang="0">
                      <a:pos x="599" y="0"/>
                    </a:cxn>
                    <a:cxn ang="0">
                      <a:pos x="615" y="0"/>
                    </a:cxn>
                    <a:cxn ang="0">
                      <a:pos x="677" y="72"/>
                    </a:cxn>
                    <a:cxn ang="0">
                      <a:pos x="677" y="160"/>
                    </a:cxn>
                    <a:cxn ang="0">
                      <a:pos x="615" y="232"/>
                    </a:cxn>
                    <a:cxn ang="0">
                      <a:pos x="599" y="232"/>
                    </a:cxn>
                    <a:cxn ang="0">
                      <a:pos x="95" y="232"/>
                    </a:cxn>
                    <a:cxn ang="0">
                      <a:pos x="32" y="263"/>
                    </a:cxn>
                    <a:cxn ang="0">
                      <a:pos x="0" y="338"/>
                    </a:cxn>
                    <a:cxn ang="0">
                      <a:pos x="0" y="72"/>
                    </a:cxn>
                    <a:cxn ang="0">
                      <a:pos x="23" y="13"/>
                    </a:cxn>
                    <a:cxn ang="0">
                      <a:pos x="72" y="0"/>
                    </a:cxn>
                    <a:cxn ang="0">
                      <a:pos x="599" y="0"/>
                    </a:cxn>
                  </a:cxnLst>
                  <a:rect l="0" t="0" r="r" b="b"/>
                  <a:pathLst>
                    <a:path w="677" h="338">
                      <a:moveTo>
                        <a:pt x="599" y="0"/>
                      </a:moveTo>
                      <a:cubicBezTo>
                        <a:pt x="604" y="0"/>
                        <a:pt x="610" y="0"/>
                        <a:pt x="615" y="0"/>
                      </a:cubicBezTo>
                      <a:cubicBezTo>
                        <a:pt x="656" y="3"/>
                        <a:pt x="677" y="27"/>
                        <a:pt x="677" y="72"/>
                      </a:cubicBezTo>
                      <a:cubicBezTo>
                        <a:pt x="677" y="160"/>
                        <a:pt x="677" y="160"/>
                        <a:pt x="677" y="160"/>
                      </a:cubicBezTo>
                      <a:cubicBezTo>
                        <a:pt x="677" y="205"/>
                        <a:pt x="656" y="229"/>
                        <a:pt x="615" y="232"/>
                      </a:cubicBezTo>
                      <a:cubicBezTo>
                        <a:pt x="610" y="232"/>
                        <a:pt x="604" y="232"/>
                        <a:pt x="599" y="232"/>
                      </a:cubicBezTo>
                      <a:cubicBezTo>
                        <a:pt x="95" y="232"/>
                        <a:pt x="95" y="232"/>
                        <a:pt x="95" y="232"/>
                      </a:cubicBezTo>
                      <a:cubicBezTo>
                        <a:pt x="71" y="235"/>
                        <a:pt x="50" y="246"/>
                        <a:pt x="32" y="263"/>
                      </a:cubicBezTo>
                      <a:cubicBezTo>
                        <a:pt x="11" y="284"/>
                        <a:pt x="0" y="309"/>
                        <a:pt x="0" y="338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44"/>
                        <a:pt x="7" y="25"/>
                        <a:pt x="23" y="13"/>
                      </a:cubicBezTo>
                      <a:cubicBezTo>
                        <a:pt x="35" y="4"/>
                        <a:pt x="51" y="0"/>
                        <a:pt x="72" y="0"/>
                      </a:cubicBezTo>
                      <a:lnTo>
                        <a:pt x="59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>
                        <a:lumMod val="75000"/>
                      </a:schemeClr>
                    </a:gs>
                    <a:gs pos="10000">
                      <a:schemeClr val="accent4"/>
                    </a:gs>
                  </a:gsLst>
                  <a:lin ang="0" scaled="0"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688C01C-45E7-D912-C03C-381781763E15}"/>
                  </a:ext>
                </a:extLst>
              </p:cNvPr>
              <p:cNvGrpSpPr/>
              <p:nvPr/>
            </p:nvGrpSpPr>
            <p:grpSpPr>
              <a:xfrm>
                <a:off x="5296611" y="5762196"/>
                <a:ext cx="1570254" cy="1095804"/>
                <a:chOff x="1212145" y="5908722"/>
                <a:chExt cx="2760283" cy="1926268"/>
              </a:xfrm>
            </p:grpSpPr>
            <p:sp>
              <p:nvSpPr>
                <p:cNvPr id="8" name="Freeform 614">
                  <a:extLst>
                    <a:ext uri="{FF2B5EF4-FFF2-40B4-BE49-F238E27FC236}">
                      <a16:creationId xmlns:a16="http://schemas.microsoft.com/office/drawing/2014/main" id="{8AE4D72C-0876-2717-F280-EDD685713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099459" y="5908722"/>
                  <a:ext cx="958630" cy="1255152"/>
                </a:xfrm>
                <a:custGeom>
                  <a:avLst/>
                  <a:gdLst>
                    <a:gd name="T0" fmla="*/ 503 w 540"/>
                    <a:gd name="T1" fmla="*/ 0 h 707"/>
                    <a:gd name="T2" fmla="*/ 36 w 540"/>
                    <a:gd name="T3" fmla="*/ 0 h 707"/>
                    <a:gd name="T4" fmla="*/ 0 w 540"/>
                    <a:gd name="T5" fmla="*/ 37 h 707"/>
                    <a:gd name="T6" fmla="*/ 0 w 540"/>
                    <a:gd name="T7" fmla="*/ 671 h 707"/>
                    <a:gd name="T8" fmla="*/ 36 w 540"/>
                    <a:gd name="T9" fmla="*/ 707 h 707"/>
                    <a:gd name="T10" fmla="*/ 503 w 540"/>
                    <a:gd name="T11" fmla="*/ 707 h 707"/>
                    <a:gd name="T12" fmla="*/ 540 w 540"/>
                    <a:gd name="T13" fmla="*/ 671 h 707"/>
                    <a:gd name="T14" fmla="*/ 540 w 540"/>
                    <a:gd name="T15" fmla="*/ 37 h 707"/>
                    <a:gd name="T16" fmla="*/ 503 w 540"/>
                    <a:gd name="T17" fmla="*/ 0 h 7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0" h="707">
                      <a:moveTo>
                        <a:pt x="503" y="0"/>
                      </a:move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16" y="0"/>
                        <a:pt x="0" y="17"/>
                        <a:pt x="0" y="37"/>
                      </a:cubicBezTo>
                      <a:cubicBezTo>
                        <a:pt x="0" y="671"/>
                        <a:pt x="0" y="671"/>
                        <a:pt x="0" y="671"/>
                      </a:cubicBezTo>
                      <a:cubicBezTo>
                        <a:pt x="0" y="691"/>
                        <a:pt x="16" y="707"/>
                        <a:pt x="36" y="707"/>
                      </a:cubicBezTo>
                      <a:cubicBezTo>
                        <a:pt x="503" y="707"/>
                        <a:pt x="503" y="707"/>
                        <a:pt x="503" y="707"/>
                      </a:cubicBezTo>
                      <a:cubicBezTo>
                        <a:pt x="523" y="707"/>
                        <a:pt x="540" y="691"/>
                        <a:pt x="540" y="671"/>
                      </a:cubicBezTo>
                      <a:cubicBezTo>
                        <a:pt x="540" y="37"/>
                        <a:pt x="540" y="37"/>
                        <a:pt x="540" y="37"/>
                      </a:cubicBezTo>
                      <a:cubicBezTo>
                        <a:pt x="540" y="17"/>
                        <a:pt x="523" y="0"/>
                        <a:pt x="503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9" name="Rectangle 615">
                  <a:extLst>
                    <a:ext uri="{FF2B5EF4-FFF2-40B4-BE49-F238E27FC236}">
                      <a16:creationId xmlns:a16="http://schemas.microsoft.com/office/drawing/2014/main" id="{0FA28F7A-7893-872B-DE11-9EAF9CC098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2199301" y="6025830"/>
                  <a:ext cx="768705" cy="10051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0" name="Oval 617">
                  <a:extLst>
                    <a:ext uri="{FF2B5EF4-FFF2-40B4-BE49-F238E27FC236}">
                      <a16:creationId xmlns:a16="http://schemas.microsoft.com/office/drawing/2014/main" id="{D3B5DA42-2710-5CF1-8F68-18F4A35A4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2561133" y="5958268"/>
                  <a:ext cx="37534" cy="3603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1" name="Oval 618">
                  <a:extLst>
                    <a:ext uri="{FF2B5EF4-FFF2-40B4-BE49-F238E27FC236}">
                      <a16:creationId xmlns:a16="http://schemas.microsoft.com/office/drawing/2014/main" id="{BA0DF22F-D498-EF8E-2ABF-D0E3B332A7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2549122" y="7057276"/>
                  <a:ext cx="61556" cy="6230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2" name="Freeform 619">
                  <a:extLst>
                    <a:ext uri="{FF2B5EF4-FFF2-40B4-BE49-F238E27FC236}">
                      <a16:creationId xmlns:a16="http://schemas.microsoft.com/office/drawing/2014/main" id="{DCD37E48-794E-A2F0-303D-E3E971DAD8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905782" y="6500265"/>
                  <a:ext cx="355076" cy="676371"/>
                </a:xfrm>
                <a:custGeom>
                  <a:avLst/>
                  <a:gdLst>
                    <a:gd name="T0" fmla="*/ 136 w 200"/>
                    <a:gd name="T1" fmla="*/ 0 h 381"/>
                    <a:gd name="T2" fmla="*/ 19 w 200"/>
                    <a:gd name="T3" fmla="*/ 137 h 381"/>
                    <a:gd name="T4" fmla="*/ 0 w 200"/>
                    <a:gd name="T5" fmla="*/ 381 h 381"/>
                    <a:gd name="T6" fmla="*/ 58 w 200"/>
                    <a:gd name="T7" fmla="*/ 315 h 381"/>
                    <a:gd name="T8" fmla="*/ 200 w 200"/>
                    <a:gd name="T9" fmla="*/ 49 h 381"/>
                    <a:gd name="T10" fmla="*/ 136 w 200"/>
                    <a:gd name="T11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0" h="381">
                      <a:moveTo>
                        <a:pt x="136" y="0"/>
                      </a:moveTo>
                      <a:cubicBezTo>
                        <a:pt x="19" y="137"/>
                        <a:pt x="19" y="137"/>
                        <a:pt x="19" y="137"/>
                      </a:cubicBezTo>
                      <a:cubicBezTo>
                        <a:pt x="0" y="381"/>
                        <a:pt x="0" y="381"/>
                        <a:pt x="0" y="381"/>
                      </a:cubicBezTo>
                      <a:cubicBezTo>
                        <a:pt x="0" y="381"/>
                        <a:pt x="58" y="381"/>
                        <a:pt x="58" y="315"/>
                      </a:cubicBezTo>
                      <a:cubicBezTo>
                        <a:pt x="58" y="250"/>
                        <a:pt x="200" y="49"/>
                        <a:pt x="200" y="49"/>
                      </a:cubicBez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F9D1A5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3" name="Freeform 620">
                  <a:extLst>
                    <a:ext uri="{FF2B5EF4-FFF2-40B4-BE49-F238E27FC236}">
                      <a16:creationId xmlns:a16="http://schemas.microsoft.com/office/drawing/2014/main" id="{1E0FA4D7-F69E-DF8D-26A4-595B31514A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840472" y="6423695"/>
                  <a:ext cx="286012" cy="754442"/>
                </a:xfrm>
                <a:custGeom>
                  <a:avLst/>
                  <a:gdLst>
                    <a:gd name="T0" fmla="*/ 381 w 381"/>
                    <a:gd name="T1" fmla="*/ 180 h 1005"/>
                    <a:gd name="T2" fmla="*/ 291 w 381"/>
                    <a:gd name="T3" fmla="*/ 298 h 1005"/>
                    <a:gd name="T4" fmla="*/ 291 w 381"/>
                    <a:gd name="T5" fmla="*/ 721 h 1005"/>
                    <a:gd name="T6" fmla="*/ 0 w 381"/>
                    <a:gd name="T7" fmla="*/ 1005 h 1005"/>
                    <a:gd name="T8" fmla="*/ 15 w 381"/>
                    <a:gd name="T9" fmla="*/ 194 h 1005"/>
                    <a:gd name="T10" fmla="*/ 152 w 381"/>
                    <a:gd name="T11" fmla="*/ 0 h 1005"/>
                    <a:gd name="T12" fmla="*/ 381 w 381"/>
                    <a:gd name="T13" fmla="*/ 180 h 10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1" h="1005">
                      <a:moveTo>
                        <a:pt x="381" y="180"/>
                      </a:moveTo>
                      <a:lnTo>
                        <a:pt x="291" y="298"/>
                      </a:lnTo>
                      <a:lnTo>
                        <a:pt x="291" y="721"/>
                      </a:lnTo>
                      <a:lnTo>
                        <a:pt x="0" y="1005"/>
                      </a:lnTo>
                      <a:lnTo>
                        <a:pt x="15" y="194"/>
                      </a:lnTo>
                      <a:lnTo>
                        <a:pt x="152" y="0"/>
                      </a:lnTo>
                      <a:lnTo>
                        <a:pt x="381" y="180"/>
                      </a:lnTo>
                      <a:close/>
                    </a:path>
                  </a:pathLst>
                </a:custGeom>
                <a:solidFill>
                  <a:srgbClr val="F9D1A5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4" name="Freeform 621">
                  <a:extLst>
                    <a:ext uri="{FF2B5EF4-FFF2-40B4-BE49-F238E27FC236}">
                      <a16:creationId xmlns:a16="http://schemas.microsoft.com/office/drawing/2014/main" id="{B23E27DD-01A2-C384-A202-730ABAA04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3051333" y="6423695"/>
                  <a:ext cx="287514" cy="754442"/>
                </a:xfrm>
                <a:custGeom>
                  <a:avLst/>
                  <a:gdLst>
                    <a:gd name="T0" fmla="*/ 0 w 383"/>
                    <a:gd name="T1" fmla="*/ 180 h 1005"/>
                    <a:gd name="T2" fmla="*/ 92 w 383"/>
                    <a:gd name="T3" fmla="*/ 298 h 1005"/>
                    <a:gd name="T4" fmla="*/ 92 w 383"/>
                    <a:gd name="T5" fmla="*/ 721 h 1005"/>
                    <a:gd name="T6" fmla="*/ 383 w 383"/>
                    <a:gd name="T7" fmla="*/ 1005 h 1005"/>
                    <a:gd name="T8" fmla="*/ 369 w 383"/>
                    <a:gd name="T9" fmla="*/ 194 h 1005"/>
                    <a:gd name="T10" fmla="*/ 229 w 383"/>
                    <a:gd name="T11" fmla="*/ 0 h 1005"/>
                    <a:gd name="T12" fmla="*/ 0 w 383"/>
                    <a:gd name="T13" fmla="*/ 180 h 10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3" h="1005">
                      <a:moveTo>
                        <a:pt x="0" y="180"/>
                      </a:moveTo>
                      <a:lnTo>
                        <a:pt x="92" y="298"/>
                      </a:lnTo>
                      <a:lnTo>
                        <a:pt x="92" y="721"/>
                      </a:lnTo>
                      <a:lnTo>
                        <a:pt x="383" y="1005"/>
                      </a:lnTo>
                      <a:lnTo>
                        <a:pt x="369" y="194"/>
                      </a:lnTo>
                      <a:lnTo>
                        <a:pt x="229" y="0"/>
                      </a:lnTo>
                      <a:lnTo>
                        <a:pt x="0" y="180"/>
                      </a:lnTo>
                      <a:close/>
                    </a:path>
                  </a:pathLst>
                </a:custGeom>
                <a:solidFill>
                  <a:srgbClr val="F9D1A5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6" name="Freeform 622">
                  <a:extLst>
                    <a:ext uri="{FF2B5EF4-FFF2-40B4-BE49-F238E27FC236}">
                      <a16:creationId xmlns:a16="http://schemas.microsoft.com/office/drawing/2014/main" id="{0651A8F7-8A8E-0D0D-5143-D71F0F35A2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744384" y="6958185"/>
                  <a:ext cx="385103" cy="319043"/>
                </a:xfrm>
                <a:custGeom>
                  <a:avLst/>
                  <a:gdLst>
                    <a:gd name="T0" fmla="*/ 425 w 513"/>
                    <a:gd name="T1" fmla="*/ 425 h 425"/>
                    <a:gd name="T2" fmla="*/ 0 w 513"/>
                    <a:gd name="T3" fmla="*/ 137 h 425"/>
                    <a:gd name="T4" fmla="*/ 111 w 513"/>
                    <a:gd name="T5" fmla="*/ 0 h 425"/>
                    <a:gd name="T6" fmla="*/ 513 w 513"/>
                    <a:gd name="T7" fmla="*/ 281 h 425"/>
                    <a:gd name="T8" fmla="*/ 425 w 513"/>
                    <a:gd name="T9" fmla="*/ 425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3" h="425">
                      <a:moveTo>
                        <a:pt x="425" y="425"/>
                      </a:moveTo>
                      <a:lnTo>
                        <a:pt x="0" y="137"/>
                      </a:lnTo>
                      <a:lnTo>
                        <a:pt x="111" y="0"/>
                      </a:lnTo>
                      <a:lnTo>
                        <a:pt x="513" y="281"/>
                      </a:lnTo>
                      <a:lnTo>
                        <a:pt x="425" y="4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18" name="Freeform 623">
                  <a:extLst>
                    <a:ext uri="{FF2B5EF4-FFF2-40B4-BE49-F238E27FC236}">
                      <a16:creationId xmlns:a16="http://schemas.microsoft.com/office/drawing/2014/main" id="{0544F580-FF85-CED0-E34D-CE31556443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212145" y="7041512"/>
                  <a:ext cx="866295" cy="785971"/>
                </a:xfrm>
                <a:custGeom>
                  <a:avLst/>
                  <a:gdLst>
                    <a:gd name="T0" fmla="*/ 284 w 1154"/>
                    <a:gd name="T1" fmla="*/ 0 h 1047"/>
                    <a:gd name="T2" fmla="*/ 0 w 1154"/>
                    <a:gd name="T3" fmla="*/ 728 h 1047"/>
                    <a:gd name="T4" fmla="*/ 454 w 1154"/>
                    <a:gd name="T5" fmla="*/ 1047 h 1047"/>
                    <a:gd name="T6" fmla="*/ 1154 w 1154"/>
                    <a:gd name="T7" fmla="*/ 0 h 1047"/>
                    <a:gd name="T8" fmla="*/ 284 w 1154"/>
                    <a:gd name="T9" fmla="*/ 0 h 10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4" h="1047">
                      <a:moveTo>
                        <a:pt x="284" y="0"/>
                      </a:moveTo>
                      <a:lnTo>
                        <a:pt x="0" y="728"/>
                      </a:lnTo>
                      <a:lnTo>
                        <a:pt x="454" y="1047"/>
                      </a:lnTo>
                      <a:lnTo>
                        <a:pt x="1154" y="0"/>
                      </a:lnTo>
                      <a:lnTo>
                        <a:pt x="284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20" name="Freeform 624">
                  <a:extLst>
                    <a:ext uri="{FF2B5EF4-FFF2-40B4-BE49-F238E27FC236}">
                      <a16:creationId xmlns:a16="http://schemas.microsoft.com/office/drawing/2014/main" id="{9621942E-82F1-B419-2357-FE8B08186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916209" y="6500265"/>
                  <a:ext cx="355076" cy="676371"/>
                </a:xfrm>
                <a:custGeom>
                  <a:avLst/>
                  <a:gdLst>
                    <a:gd name="T0" fmla="*/ 64 w 200"/>
                    <a:gd name="T1" fmla="*/ 0 h 381"/>
                    <a:gd name="T2" fmla="*/ 180 w 200"/>
                    <a:gd name="T3" fmla="*/ 137 h 381"/>
                    <a:gd name="T4" fmla="*/ 200 w 200"/>
                    <a:gd name="T5" fmla="*/ 381 h 381"/>
                    <a:gd name="T6" fmla="*/ 141 w 200"/>
                    <a:gd name="T7" fmla="*/ 315 h 381"/>
                    <a:gd name="T8" fmla="*/ 0 w 200"/>
                    <a:gd name="T9" fmla="*/ 49 h 381"/>
                    <a:gd name="T10" fmla="*/ 64 w 200"/>
                    <a:gd name="T11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0" h="381">
                      <a:moveTo>
                        <a:pt x="64" y="0"/>
                      </a:moveTo>
                      <a:cubicBezTo>
                        <a:pt x="180" y="137"/>
                        <a:pt x="180" y="137"/>
                        <a:pt x="180" y="137"/>
                      </a:cubicBezTo>
                      <a:cubicBezTo>
                        <a:pt x="200" y="381"/>
                        <a:pt x="200" y="381"/>
                        <a:pt x="200" y="381"/>
                      </a:cubicBezTo>
                      <a:cubicBezTo>
                        <a:pt x="200" y="381"/>
                        <a:pt x="141" y="381"/>
                        <a:pt x="141" y="315"/>
                      </a:cubicBezTo>
                      <a:cubicBezTo>
                        <a:pt x="141" y="250"/>
                        <a:pt x="0" y="49"/>
                        <a:pt x="0" y="49"/>
                      </a:cubicBez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F9D1A5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21" name="Freeform 625">
                  <a:extLst>
                    <a:ext uri="{FF2B5EF4-FFF2-40B4-BE49-F238E27FC236}">
                      <a16:creationId xmlns:a16="http://schemas.microsoft.com/office/drawing/2014/main" id="{0C390DF2-7389-07DF-F698-D64AEF589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3047580" y="6958185"/>
                  <a:ext cx="385103" cy="319043"/>
                </a:xfrm>
                <a:custGeom>
                  <a:avLst/>
                  <a:gdLst>
                    <a:gd name="T0" fmla="*/ 87 w 513"/>
                    <a:gd name="T1" fmla="*/ 425 h 425"/>
                    <a:gd name="T2" fmla="*/ 513 w 513"/>
                    <a:gd name="T3" fmla="*/ 137 h 425"/>
                    <a:gd name="T4" fmla="*/ 402 w 513"/>
                    <a:gd name="T5" fmla="*/ 0 h 425"/>
                    <a:gd name="T6" fmla="*/ 0 w 513"/>
                    <a:gd name="T7" fmla="*/ 281 h 425"/>
                    <a:gd name="T8" fmla="*/ 87 w 513"/>
                    <a:gd name="T9" fmla="*/ 425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3" h="425">
                      <a:moveTo>
                        <a:pt x="87" y="425"/>
                      </a:moveTo>
                      <a:lnTo>
                        <a:pt x="513" y="137"/>
                      </a:lnTo>
                      <a:lnTo>
                        <a:pt x="402" y="0"/>
                      </a:lnTo>
                      <a:lnTo>
                        <a:pt x="0" y="281"/>
                      </a:lnTo>
                      <a:lnTo>
                        <a:pt x="87" y="4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22" name="Freeform 626">
                  <a:extLst>
                    <a:ext uri="{FF2B5EF4-FFF2-40B4-BE49-F238E27FC236}">
                      <a16:creationId xmlns:a16="http://schemas.microsoft.com/office/drawing/2014/main" id="{396DB0DD-4C38-3A1E-1FA9-E506819B96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3100878" y="7041512"/>
                  <a:ext cx="871550" cy="793478"/>
                </a:xfrm>
                <a:custGeom>
                  <a:avLst/>
                  <a:gdLst>
                    <a:gd name="T0" fmla="*/ 875 w 1161"/>
                    <a:gd name="T1" fmla="*/ 0 h 1057"/>
                    <a:gd name="T2" fmla="*/ 1161 w 1161"/>
                    <a:gd name="T3" fmla="*/ 738 h 1057"/>
                    <a:gd name="T4" fmla="*/ 709 w 1161"/>
                    <a:gd name="T5" fmla="*/ 1057 h 1057"/>
                    <a:gd name="T6" fmla="*/ 0 w 1161"/>
                    <a:gd name="T7" fmla="*/ 0 h 1057"/>
                    <a:gd name="T8" fmla="*/ 875 w 1161"/>
                    <a:gd name="T9" fmla="*/ 0 h 10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61" h="1057">
                      <a:moveTo>
                        <a:pt x="875" y="0"/>
                      </a:moveTo>
                      <a:lnTo>
                        <a:pt x="1161" y="738"/>
                      </a:lnTo>
                      <a:lnTo>
                        <a:pt x="709" y="1057"/>
                      </a:lnTo>
                      <a:lnTo>
                        <a:pt x="0" y="0"/>
                      </a:lnTo>
                      <a:lnTo>
                        <a:pt x="875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23" name="Oval 618">
                  <a:extLst>
                    <a:ext uri="{FF2B5EF4-FFF2-40B4-BE49-F238E27FC236}">
                      <a16:creationId xmlns:a16="http://schemas.microsoft.com/office/drawing/2014/main" id="{B911951C-34FF-9EBD-0FEE-A30BDD384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1933557" y="7298249"/>
                  <a:ext cx="61556" cy="6230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  <p:sp>
              <p:nvSpPr>
                <p:cNvPr id="24" name="Oval 618">
                  <a:extLst>
                    <a:ext uri="{FF2B5EF4-FFF2-40B4-BE49-F238E27FC236}">
                      <a16:creationId xmlns:a16="http://schemas.microsoft.com/office/drawing/2014/main" id="{73955EAB-D767-72CF-0398-56CEBCFD7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3166940" y="7277229"/>
                  <a:ext cx="61556" cy="6230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100"/>
                </a:p>
              </p:txBody>
            </p:sp>
          </p:grp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BDB72B-A603-FCAD-2D50-7C26B9DE1259}"/>
                </a:ext>
              </a:extLst>
            </p:cNvPr>
            <p:cNvSpPr txBox="1"/>
            <p:nvPr/>
          </p:nvSpPr>
          <p:spPr>
            <a:xfrm>
              <a:off x="4472236" y="4673217"/>
              <a:ext cx="2634375" cy="319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Poppins" pitchFamily="2" charset="77"/>
                  <a:ea typeface="Lato Light" panose="020F0502020204030203" pitchFamily="34" charset="0"/>
                  <a:cs typeface="Poppins" pitchFamily="2" charset="77"/>
                </a:rPr>
                <a:t>Modularity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2024B5-E95C-F962-DD15-9B72D33B4932}"/>
                </a:ext>
              </a:extLst>
            </p:cNvPr>
            <p:cNvSpPr txBox="1"/>
            <p:nvPr/>
          </p:nvSpPr>
          <p:spPr>
            <a:xfrm>
              <a:off x="6508518" y="3345853"/>
              <a:ext cx="2634375" cy="319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Poppins" pitchFamily="2" charset="77"/>
                  <a:ea typeface="Lato Light" panose="020F0502020204030203" pitchFamily="34" charset="0"/>
                  <a:cs typeface="Poppins" pitchFamily="2" charset="77"/>
                </a:rPr>
                <a:t>Reusability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1AFF05B-F96E-D639-9884-B446351512C8}"/>
                </a:ext>
              </a:extLst>
            </p:cNvPr>
            <p:cNvSpPr txBox="1"/>
            <p:nvPr/>
          </p:nvSpPr>
          <p:spPr>
            <a:xfrm>
              <a:off x="6367005" y="4299217"/>
              <a:ext cx="2634375" cy="319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Poppins" pitchFamily="2" charset="77"/>
                  <a:ea typeface="Lato Light" panose="020F0502020204030203" pitchFamily="34" charset="0"/>
                  <a:cs typeface="Poppins" pitchFamily="2" charset="77"/>
                </a:rPr>
                <a:t>Extensibility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95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69F19-F15F-7356-91E7-34D343618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426" y="1927826"/>
            <a:ext cx="5983147" cy="438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4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For Class Names we use Pascal Case/Upper Camel Case as the Naming Convention.</a:t>
            </a:r>
          </a:p>
          <a:p>
            <a:r>
              <a:rPr lang="en-IN" dirty="0"/>
              <a:t>First Letter of each word is capitalised</a:t>
            </a:r>
          </a:p>
          <a:p>
            <a:r>
              <a:rPr lang="en-IN" b="1" strike="noStrike" dirty="0">
                <a:effectLst/>
              </a:rPr>
              <a:t>Example: BmiCalculator</a:t>
            </a:r>
          </a:p>
        </p:txBody>
      </p:sp>
    </p:spTree>
    <p:extLst>
      <p:ext uri="{BB962C8B-B14F-4D97-AF65-F5344CB8AC3E}">
        <p14:creationId xmlns:p14="http://schemas.microsoft.com/office/powerpoint/2010/main" val="49410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Instance is an Object Created from Class</a:t>
            </a:r>
          </a:p>
          <a:p>
            <a:r>
              <a:rPr lang="en-IN" dirty="0"/>
              <a:t>Class = Abstract, Instance = Concrete</a:t>
            </a:r>
            <a:endParaRPr lang="en-IN" b="1" strike="noStrike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31BC2-E574-91DC-01E5-9A9B19532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04" y="2809663"/>
            <a:ext cx="4398379" cy="3914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531AFD-BA34-27BE-D4CF-968200235043}"/>
              </a:ext>
            </a:extLst>
          </p:cNvPr>
          <p:cNvSpPr txBox="1"/>
          <p:nvPr/>
        </p:nvSpPr>
        <p:spPr>
          <a:xfrm>
            <a:off x="1782501" y="4766942"/>
            <a:ext cx="1736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Poppins" pitchFamily="2" charset="77"/>
                <a:cs typeface="Poppins" pitchFamily="2" charset="77"/>
              </a:rPr>
              <a:t>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4C2F7-098F-164D-7AA6-88FD55E2B96B}"/>
              </a:ext>
            </a:extLst>
          </p:cNvPr>
          <p:cNvSpPr txBox="1"/>
          <p:nvPr/>
        </p:nvSpPr>
        <p:spPr>
          <a:xfrm>
            <a:off x="7917083" y="3988498"/>
            <a:ext cx="1736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Poppins" pitchFamily="2" charset="77"/>
                <a:cs typeface="Poppins" pitchFamily="2" charset="77"/>
              </a:rPr>
              <a:t>Concrete</a:t>
            </a:r>
          </a:p>
        </p:txBody>
      </p:sp>
    </p:spTree>
    <p:extLst>
      <p:ext uri="{BB962C8B-B14F-4D97-AF65-F5344CB8AC3E}">
        <p14:creationId xmlns:p14="http://schemas.microsoft.com/office/powerpoint/2010/main" val="1626161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The Attributes of an Object, They belong to a particular object</a:t>
            </a:r>
            <a:endParaRPr lang="en-IN" b="1" strike="noStrike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1AA7F-E41A-BD22-1160-0B30DC510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314" y="2321879"/>
            <a:ext cx="6081371" cy="43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46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Special Method used to define the initial state of the object</a:t>
            </a:r>
          </a:p>
          <a:p>
            <a:r>
              <a:rPr lang="en-IN" dirty="0"/>
              <a:t>We need to call it when we create an Instance</a:t>
            </a:r>
            <a:endParaRPr lang="en-IN" b="1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9083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DDF8-F805-0183-06E5-921C357C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019-477B-8DD1-EF0D-7D25020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Self is a generic way of referring to the current instance of the class</a:t>
            </a:r>
            <a:endParaRPr lang="en-IN" b="1" strike="noStrike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DD0A8-3993-433F-3C6C-B361BEA4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26" y="3220655"/>
            <a:ext cx="9826547" cy="1151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5EDE13-4826-DA6C-9627-7B8F2CF5D353}"/>
              </a:ext>
            </a:extLst>
          </p:cNvPr>
          <p:cNvSpPr txBox="1"/>
          <p:nvPr/>
        </p:nvSpPr>
        <p:spPr>
          <a:xfrm>
            <a:off x="5752618" y="4488091"/>
            <a:ext cx="1736203" cy="15696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Poppins" pitchFamily="2" charset="77"/>
                <a:cs typeface="Poppins" pitchFamily="2" charset="77"/>
              </a:rPr>
              <a:t>Assign the value to the variable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8EEE0970-322A-DAEA-1B0E-756EB4710BCE}"/>
              </a:ext>
            </a:extLst>
          </p:cNvPr>
          <p:cNvSpPr/>
          <p:nvPr/>
        </p:nvSpPr>
        <p:spPr>
          <a:xfrm>
            <a:off x="6204030" y="4247908"/>
            <a:ext cx="231494" cy="258793"/>
          </a:xfrm>
          <a:prstGeom prst="up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E5EEF-7178-7980-0645-15404AD1F576}"/>
              </a:ext>
            </a:extLst>
          </p:cNvPr>
          <p:cNvSpPr txBox="1"/>
          <p:nvPr/>
        </p:nvSpPr>
        <p:spPr>
          <a:xfrm>
            <a:off x="3717403" y="4569401"/>
            <a:ext cx="1842304" cy="15696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Poppins" pitchFamily="2" charset="77"/>
                <a:cs typeface="Poppins" pitchFamily="2" charset="77"/>
              </a:rPr>
              <a:t>To the instance attribute “name”</a:t>
            </a:r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A8C56416-71A9-9752-0E2A-F03BE183F3BA}"/>
              </a:ext>
            </a:extLst>
          </p:cNvPr>
          <p:cNvSpPr/>
          <p:nvPr/>
        </p:nvSpPr>
        <p:spPr>
          <a:xfrm>
            <a:off x="4076218" y="4247908"/>
            <a:ext cx="231494" cy="258793"/>
          </a:xfrm>
          <a:prstGeom prst="up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9B8F6-57B2-6DE5-B9D2-DBAA0A3AC978}"/>
              </a:ext>
            </a:extLst>
          </p:cNvPr>
          <p:cNvSpPr txBox="1"/>
          <p:nvPr/>
        </p:nvSpPr>
        <p:spPr>
          <a:xfrm>
            <a:off x="1584770" y="4565252"/>
            <a:ext cx="1939723" cy="15696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Poppins" pitchFamily="2" charset="77"/>
                <a:cs typeface="Poppins" pitchFamily="2" charset="77"/>
              </a:rPr>
              <a:t>Of the instance that being created</a:t>
            </a:r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E6E3F757-6030-ACBC-57B9-83E3B5639FD2}"/>
              </a:ext>
            </a:extLst>
          </p:cNvPr>
          <p:cNvSpPr/>
          <p:nvPr/>
        </p:nvSpPr>
        <p:spPr>
          <a:xfrm>
            <a:off x="2631312" y="4279261"/>
            <a:ext cx="231494" cy="258793"/>
          </a:xfrm>
          <a:prstGeom prst="up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3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</TotalTime>
  <Words>403</Words>
  <Application>Microsoft Macintosh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Lato</vt:lpstr>
      <vt:lpstr>Lato Black</vt:lpstr>
      <vt:lpstr>Poppins</vt:lpstr>
      <vt:lpstr>Office Theme</vt:lpstr>
      <vt:lpstr>Object Oriented Programming</vt:lpstr>
      <vt:lpstr>PowerPoint Presentation</vt:lpstr>
      <vt:lpstr>What is OOPS?</vt:lpstr>
      <vt:lpstr>What is OOPS?</vt:lpstr>
      <vt:lpstr>Types of Programming Paradigm?</vt:lpstr>
      <vt:lpstr>Types of Programming Paradigm?</vt:lpstr>
      <vt:lpstr>What is Class &amp; Object</vt:lpstr>
      <vt:lpstr>Advantages of OOPS</vt:lpstr>
      <vt:lpstr>Advantages of OOPS</vt:lpstr>
      <vt:lpstr>Class Naming Convention</vt:lpstr>
      <vt:lpstr>Instance</vt:lpstr>
      <vt:lpstr>Instance Attributes</vt:lpstr>
      <vt:lpstr>__init__()</vt:lpstr>
      <vt:lpstr>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Project Lifecycle</dc:title>
  <dc:creator>Rajeev kanth</dc:creator>
  <cp:lastModifiedBy>Rajeev kanth</cp:lastModifiedBy>
  <cp:revision>9</cp:revision>
  <dcterms:created xsi:type="dcterms:W3CDTF">2022-11-11T03:38:02Z</dcterms:created>
  <dcterms:modified xsi:type="dcterms:W3CDTF">2022-12-07T14:28:09Z</dcterms:modified>
</cp:coreProperties>
</file>